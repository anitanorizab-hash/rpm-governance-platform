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2" r:id="rId4"/>
    <p:sldId id="263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2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&amp; 14 — Pain Points + HMW Statements  →  02_pain_points_hmw.md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160520" cy="329184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1155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data stored in multiple Excel files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435608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56032" y="1435608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56032" y="14356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147218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 monitoring platform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792224"/>
            <a:ext cx="4160520" cy="329184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256032" y="17922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18288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generated manually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148840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256032" y="2148840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256032" y="21488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218541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 mechanism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4160520" cy="329184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256032" y="2505456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256032" y="25054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254203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monitoring not systematic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62072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256032" y="2862072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256032" y="2862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289864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OBB analysis performed manually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218688"/>
            <a:ext cx="4160520" cy="329184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256032" y="3218688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256032" y="32186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" y="325526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intervention process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575304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256032" y="3575304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256032" y="35753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36118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lacks real-time visibility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931920"/>
            <a:ext cx="4160520" cy="329184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7"/>
          <p:cNvSpPr/>
          <p:nvPr/>
        </p:nvSpPr>
        <p:spPr>
          <a:xfrm>
            <a:off x="256032" y="3931920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256032" y="3931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" y="396849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completeness issues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288536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256032" y="4288536"/>
            <a:ext cx="502920" cy="329184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256032" y="42885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" y="432511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reminders handled manually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27448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 Statements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27448" y="1078992"/>
            <a:ext cx="4160520" cy="329184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Shape 46"/>
          <p:cNvSpPr/>
          <p:nvPr/>
        </p:nvSpPr>
        <p:spPr>
          <a:xfrm>
            <a:off x="4727448" y="1078992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 47"/>
          <p:cNvSpPr/>
          <p:nvPr/>
        </p:nvSpPr>
        <p:spPr>
          <a:xfrm>
            <a:off x="4727448" y="10789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67528" y="111556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centralise all KPI data?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27448" y="1435608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Shape 50"/>
          <p:cNvSpPr/>
          <p:nvPr/>
        </p:nvSpPr>
        <p:spPr>
          <a:xfrm>
            <a:off x="4727448" y="1435608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4727448" y="14356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67528" y="147218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detect KPI risks earlier?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27448" y="1792224"/>
            <a:ext cx="4160520" cy="329184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54"/>
          <p:cNvSpPr/>
          <p:nvPr/>
        </p:nvSpPr>
        <p:spPr>
          <a:xfrm>
            <a:off x="4727448" y="1792224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Text 55"/>
          <p:cNvSpPr/>
          <p:nvPr/>
        </p:nvSpPr>
        <p:spPr>
          <a:xfrm>
            <a:off x="4727448" y="179222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67528" y="1828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automate monthly reporting?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27448" y="2148840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Shape 58"/>
          <p:cNvSpPr/>
          <p:nvPr/>
        </p:nvSpPr>
        <p:spPr>
          <a:xfrm>
            <a:off x="4727448" y="2148840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4727448" y="21488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67528" y="218541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improve OBB monitoring?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27448" y="2505456"/>
            <a:ext cx="4160520" cy="329184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4727448" y="2505456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4727448" y="250545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67528" y="254203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recommend LCHI alternatives?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27448" y="2862072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Shape 66"/>
          <p:cNvSpPr/>
          <p:nvPr/>
        </p:nvSpPr>
        <p:spPr>
          <a:xfrm>
            <a:off x="4727448" y="2862072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Text 67"/>
          <p:cNvSpPr/>
          <p:nvPr/>
        </p:nvSpPr>
        <p:spPr>
          <a:xfrm>
            <a:off x="4727448" y="28620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367528" y="289864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automate intervention?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27448" y="3218688"/>
            <a:ext cx="4160520" cy="329184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Shape 70"/>
          <p:cNvSpPr/>
          <p:nvPr/>
        </p:nvSpPr>
        <p:spPr>
          <a:xfrm>
            <a:off x="4727448" y="3218688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3" name="Text 71"/>
          <p:cNvSpPr/>
          <p:nvPr/>
        </p:nvSpPr>
        <p:spPr>
          <a:xfrm>
            <a:off x="4727448" y="321868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367528" y="32552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give management real-time view?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727448" y="3575304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Shape 74"/>
          <p:cNvSpPr/>
          <p:nvPr/>
        </p:nvSpPr>
        <p:spPr>
          <a:xfrm>
            <a:off x="4727448" y="3575304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Text 75"/>
          <p:cNvSpPr/>
          <p:nvPr/>
        </p:nvSpPr>
        <p:spPr>
          <a:xfrm>
            <a:off x="4727448" y="357530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HMW08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67528" y="361188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ensure data completeness?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727448" y="3931920"/>
            <a:ext cx="4160520" cy="329184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Shape 78"/>
          <p:cNvSpPr/>
          <p:nvPr/>
        </p:nvSpPr>
        <p:spPr>
          <a:xfrm>
            <a:off x="4727448" y="3931920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Text 79"/>
          <p:cNvSpPr/>
          <p:nvPr/>
        </p:nvSpPr>
        <p:spPr>
          <a:xfrm>
            <a:off x="4727448" y="39319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HMW09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67528" y="396849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automate email reminders?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727448" y="4288536"/>
            <a:ext cx="41605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Shape 82"/>
          <p:cNvSpPr/>
          <p:nvPr/>
        </p:nvSpPr>
        <p:spPr>
          <a:xfrm>
            <a:off x="4727448" y="4288536"/>
            <a:ext cx="5943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5" name="Text 83"/>
          <p:cNvSpPr/>
          <p:nvPr/>
        </p:nvSpPr>
        <p:spPr>
          <a:xfrm>
            <a:off x="4727448" y="428853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HMW10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367528" y="432511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track escalation automatically?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&amp; 16 — BRD + TRD  →  03_brd.md  &amp;  04_trd.md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 (BRD)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" y="110642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 all JPN and PPD KPI records.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412748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56032" y="1412748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56032" y="141274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0392" y="144018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monthly KPI updates by authorised users.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746504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256032" y="1746504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256032" y="17465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0392" y="1773936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KPI performance status.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080260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256032" y="2080260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256032" y="20802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0392" y="2107692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At Risk and Critical KPIs.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414016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256032" y="2414016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256032" y="24140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0392" y="2441448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allocation, warrant and expenditure.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747772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256032" y="2747772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256032" y="27477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" y="277520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OBB value for money.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081528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256032" y="3081528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256032" y="308152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0392" y="310896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Low Cost High Impact alternatives.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3415284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256032" y="3415284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256032" y="341528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" y="3442716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intervention recommendations.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749040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7"/>
          <p:cNvSpPr/>
          <p:nvPr/>
        </p:nvSpPr>
        <p:spPr>
          <a:xfrm>
            <a:off x="256032" y="3749040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256032" y="374904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0392" y="3776472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automated email alerts.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4082796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256032" y="4082796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256032" y="408279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BR010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0392" y="4110228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monthly reports and summaries.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4416552"/>
            <a:ext cx="4160520" cy="301752"/>
          </a:xfrm>
          <a:prstGeom prst="rect">
            <a:avLst/>
          </a:prstGeom>
          <a:solidFill>
            <a:srgbClr val="E8F5E9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45"/>
          <p:cNvSpPr/>
          <p:nvPr/>
        </p:nvSpPr>
        <p:spPr>
          <a:xfrm>
            <a:off x="256032" y="4416552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256032" y="441655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BR011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50392" y="444398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role-based access control.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4750308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256032" y="4750308"/>
            <a:ext cx="548640" cy="301752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256032" y="475030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BR012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" y="477774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governance logs and audit trail.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27448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Requirements (TRD)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27448" y="1078992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54"/>
          <p:cNvSpPr/>
          <p:nvPr/>
        </p:nvSpPr>
        <p:spPr>
          <a:xfrm>
            <a:off x="4727448" y="1078992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Text 55"/>
          <p:cNvSpPr/>
          <p:nvPr/>
        </p:nvSpPr>
        <p:spPr>
          <a:xfrm>
            <a:off x="4727448" y="107899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21808" y="110642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React + Vite + Tailwind application.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27448" y="1412748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Shape 58"/>
          <p:cNvSpPr/>
          <p:nvPr/>
        </p:nvSpPr>
        <p:spPr>
          <a:xfrm>
            <a:off x="4727448" y="1412748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4727448" y="141274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TR002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321808" y="144018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login validation for @moe.gov.my.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27448" y="1746504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4727448" y="1746504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4727448" y="17465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TR003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21808" y="1773936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KPI data from Excel as master records.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27448" y="2080260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Shape 66"/>
          <p:cNvSpPr/>
          <p:nvPr/>
        </p:nvSpPr>
        <p:spPr>
          <a:xfrm>
            <a:off x="4727448" y="2080260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Text 67"/>
          <p:cNvSpPr/>
          <p:nvPr/>
        </p:nvSpPr>
        <p:spPr>
          <a:xfrm>
            <a:off x="4727448" y="20802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TR004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21808" y="2107692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KPI records in structured data model.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27448" y="2414016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Shape 70"/>
          <p:cNvSpPr/>
          <p:nvPr/>
        </p:nvSpPr>
        <p:spPr>
          <a:xfrm>
            <a:off x="4727448" y="2414016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3" name="Text 71"/>
          <p:cNvSpPr/>
          <p:nvPr/>
        </p:nvSpPr>
        <p:spPr>
          <a:xfrm>
            <a:off x="4727448" y="24140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TR005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321808" y="2441448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dashboard with summary cards and charts.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27448" y="2747772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Shape 74"/>
          <p:cNvSpPr/>
          <p:nvPr/>
        </p:nvSpPr>
        <p:spPr>
          <a:xfrm>
            <a:off x="4727448" y="2747772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Text 75"/>
          <p:cNvSpPr/>
          <p:nvPr/>
        </p:nvSpPr>
        <p:spPr>
          <a:xfrm>
            <a:off x="4727448" y="27477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TR006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321808" y="277520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monthly KPI update form.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27448" y="3081528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Shape 78"/>
          <p:cNvSpPr/>
          <p:nvPr/>
        </p:nvSpPr>
        <p:spPr>
          <a:xfrm>
            <a:off x="4727448" y="3081528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Text 79"/>
          <p:cNvSpPr/>
          <p:nvPr/>
        </p:nvSpPr>
        <p:spPr>
          <a:xfrm>
            <a:off x="4727448" y="308152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TR007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321808" y="310896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financial data section.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727448" y="3415284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Shape 82"/>
          <p:cNvSpPr/>
          <p:nvPr/>
        </p:nvSpPr>
        <p:spPr>
          <a:xfrm>
            <a:off x="4727448" y="3415284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5" name="Text 83"/>
          <p:cNvSpPr/>
          <p:nvPr/>
        </p:nvSpPr>
        <p:spPr>
          <a:xfrm>
            <a:off x="4727448" y="341528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TR008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21808" y="3442716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rule-based KPI status classification.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27448" y="3749040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Shape 86"/>
          <p:cNvSpPr/>
          <p:nvPr/>
        </p:nvSpPr>
        <p:spPr>
          <a:xfrm>
            <a:off x="4727448" y="3749040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9" name="Text 87"/>
          <p:cNvSpPr/>
          <p:nvPr/>
        </p:nvSpPr>
        <p:spPr>
          <a:xfrm>
            <a:off x="4727448" y="374904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TR009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321808" y="3776472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rule-based risk detection logic.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727448" y="4082796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Shape 90"/>
          <p:cNvSpPr/>
          <p:nvPr/>
        </p:nvSpPr>
        <p:spPr>
          <a:xfrm>
            <a:off x="4727448" y="4082796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3" name="Text 91"/>
          <p:cNvSpPr/>
          <p:nvPr/>
        </p:nvSpPr>
        <p:spPr>
          <a:xfrm>
            <a:off x="4727448" y="408279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321808" y="4110228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 Centre for 14 AI agents.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727448" y="4416552"/>
            <a:ext cx="4160520" cy="301752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Shape 94"/>
          <p:cNvSpPr/>
          <p:nvPr/>
        </p:nvSpPr>
        <p:spPr>
          <a:xfrm>
            <a:off x="4727448" y="4416552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7" name="Text 95"/>
          <p:cNvSpPr/>
          <p:nvPr/>
        </p:nvSpPr>
        <p:spPr>
          <a:xfrm>
            <a:off x="4727448" y="441655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TR011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321808" y="4443984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email trigger engine.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727448" y="4750308"/>
            <a:ext cx="41605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Shape 98"/>
          <p:cNvSpPr/>
          <p:nvPr/>
        </p:nvSpPr>
        <p:spPr>
          <a:xfrm>
            <a:off x="4727448" y="4750308"/>
            <a:ext cx="548640" cy="3017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1" name="Text 99"/>
          <p:cNvSpPr/>
          <p:nvPr/>
        </p:nvSpPr>
        <p:spPr>
          <a:xfrm>
            <a:off x="4727448" y="475030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TR012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321808" y="4777740"/>
            <a:ext cx="3511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report archive and notification log.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17 — Traceability Matrix  →  05_traceability_matrix.md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— links every requirement back to its origin and forward to its test.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42416"/>
            <a:ext cx="59436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256032" y="10424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ID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50392" y="1042416"/>
            <a:ext cx="68580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50392" y="104241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36192" y="1042416"/>
            <a:ext cx="77724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536192" y="1042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13432" y="1042416"/>
            <a:ext cx="59436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2313432" y="10424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07792" y="1042416"/>
            <a:ext cx="91440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907792" y="10424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22192" y="1042416"/>
            <a:ext cx="192024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822192" y="1042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42432" y="1042416"/>
            <a:ext cx="1956816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742432" y="10424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292608" y="1417320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0392" y="1389888"/>
            <a:ext cx="6858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886968" y="1417320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36192" y="1389888"/>
            <a:ext cx="777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1572768" y="1417320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13432" y="1389888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2350008" y="1417320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07792" y="1389888"/>
            <a:ext cx="9144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2944368" y="1417320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TR003, TR004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22192" y="1389888"/>
            <a:ext cx="1920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3858768" y="1417320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 Agent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42432" y="1389888"/>
            <a:ext cx="1956816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5779008" y="1417320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KPI Records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1737360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292608" y="1764792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50392" y="1737360"/>
            <a:ext cx="6858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886968" y="1764792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536192" y="1737360"/>
            <a:ext cx="777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1572768" y="1764792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13432" y="1737360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2350008" y="1764792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07792" y="173736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2944368" y="1764792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TR005, TR008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22192" y="1737360"/>
            <a:ext cx="1920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3858768" y="176479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Monitoring Agent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42432" y="1737360"/>
            <a:ext cx="1956816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5779008" y="1764792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6032" y="2084832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 47"/>
          <p:cNvSpPr/>
          <p:nvPr/>
        </p:nvSpPr>
        <p:spPr>
          <a:xfrm>
            <a:off x="292608" y="2112264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0392" y="2084832"/>
            <a:ext cx="6858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Text 49"/>
          <p:cNvSpPr/>
          <p:nvPr/>
        </p:nvSpPr>
        <p:spPr>
          <a:xfrm>
            <a:off x="886968" y="2112264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536192" y="2084832"/>
            <a:ext cx="777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1572768" y="2112264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13432" y="2084832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Text 53"/>
          <p:cNvSpPr/>
          <p:nvPr/>
        </p:nvSpPr>
        <p:spPr>
          <a:xfrm>
            <a:off x="2350008" y="2112264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BR004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907792" y="2084832"/>
            <a:ext cx="9144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Text 55"/>
          <p:cNvSpPr/>
          <p:nvPr/>
        </p:nvSpPr>
        <p:spPr>
          <a:xfrm>
            <a:off x="2944368" y="2112264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TR009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22192" y="2084832"/>
            <a:ext cx="1920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9" name="Text 57"/>
          <p:cNvSpPr/>
          <p:nvPr/>
        </p:nvSpPr>
        <p:spPr>
          <a:xfrm>
            <a:off x="3858768" y="2112264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Agent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742432" y="2084832"/>
            <a:ext cx="1956816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5779008" y="2112264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Centre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56032" y="2432304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3" name="Text 61"/>
          <p:cNvSpPr/>
          <p:nvPr/>
        </p:nvSpPr>
        <p:spPr>
          <a:xfrm>
            <a:off x="292608" y="2459736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0392" y="2432304"/>
            <a:ext cx="6858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886968" y="2459736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536192" y="2432304"/>
            <a:ext cx="777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7" name="Text 65"/>
          <p:cNvSpPr/>
          <p:nvPr/>
        </p:nvSpPr>
        <p:spPr>
          <a:xfrm>
            <a:off x="1572768" y="2459736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313432" y="2432304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Text 67"/>
          <p:cNvSpPr/>
          <p:nvPr/>
        </p:nvSpPr>
        <p:spPr>
          <a:xfrm>
            <a:off x="2350008" y="2459736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BR010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907792" y="2432304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1" name="Text 69"/>
          <p:cNvSpPr/>
          <p:nvPr/>
        </p:nvSpPr>
        <p:spPr>
          <a:xfrm>
            <a:off x="2944368" y="2459736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TR012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822192" y="2432304"/>
            <a:ext cx="1920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3" name="Text 71"/>
          <p:cNvSpPr/>
          <p:nvPr/>
        </p:nvSpPr>
        <p:spPr>
          <a:xfrm>
            <a:off x="3858768" y="2459736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 Agent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742432" y="2432304"/>
            <a:ext cx="1956816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5" name="Text 73"/>
          <p:cNvSpPr/>
          <p:nvPr/>
        </p:nvSpPr>
        <p:spPr>
          <a:xfrm>
            <a:off x="5779008" y="2459736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Archive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6032" y="2779776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Text 75"/>
          <p:cNvSpPr/>
          <p:nvPr/>
        </p:nvSpPr>
        <p:spPr>
          <a:xfrm>
            <a:off x="292608" y="2807208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R005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50392" y="2779776"/>
            <a:ext cx="6858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9" name="Text 77"/>
          <p:cNvSpPr/>
          <p:nvPr/>
        </p:nvSpPr>
        <p:spPr>
          <a:xfrm>
            <a:off x="886968" y="2807208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PP05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536192" y="2779776"/>
            <a:ext cx="777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Text 79"/>
          <p:cNvSpPr/>
          <p:nvPr/>
        </p:nvSpPr>
        <p:spPr>
          <a:xfrm>
            <a:off x="1572768" y="2807208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HMW04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313432" y="2779776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3" name="Text 81"/>
          <p:cNvSpPr/>
          <p:nvPr/>
        </p:nvSpPr>
        <p:spPr>
          <a:xfrm>
            <a:off x="2350008" y="2807208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BR005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907792" y="2779776"/>
            <a:ext cx="9144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5" name="Text 83"/>
          <p:cNvSpPr/>
          <p:nvPr/>
        </p:nvSpPr>
        <p:spPr>
          <a:xfrm>
            <a:off x="2944368" y="2807208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TR007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822192" y="2779776"/>
            <a:ext cx="1920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7" name="Text 85"/>
          <p:cNvSpPr/>
          <p:nvPr/>
        </p:nvSpPr>
        <p:spPr>
          <a:xfrm>
            <a:off x="3858768" y="2807208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Monitoring Agent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42432" y="2779776"/>
            <a:ext cx="1956816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9" name="Text 87"/>
          <p:cNvSpPr/>
          <p:nvPr/>
        </p:nvSpPr>
        <p:spPr>
          <a:xfrm>
            <a:off x="5779008" y="2807208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Section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56032" y="3127248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1" name="Text 89"/>
          <p:cNvSpPr/>
          <p:nvPr/>
        </p:nvSpPr>
        <p:spPr>
          <a:xfrm>
            <a:off x="292608" y="3154680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R006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50392" y="3127248"/>
            <a:ext cx="6858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3" name="Text 91"/>
          <p:cNvSpPr/>
          <p:nvPr/>
        </p:nvSpPr>
        <p:spPr>
          <a:xfrm>
            <a:off x="886968" y="3154680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PP06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536192" y="3127248"/>
            <a:ext cx="777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5" name="Text 93"/>
          <p:cNvSpPr/>
          <p:nvPr/>
        </p:nvSpPr>
        <p:spPr>
          <a:xfrm>
            <a:off x="1572768" y="3154680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HMW04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313432" y="3127248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7" name="Text 95"/>
          <p:cNvSpPr/>
          <p:nvPr/>
        </p:nvSpPr>
        <p:spPr>
          <a:xfrm>
            <a:off x="2350008" y="3154680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BR006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907792" y="3127248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9" name="Text 97"/>
          <p:cNvSpPr/>
          <p:nvPr/>
        </p:nvSpPr>
        <p:spPr>
          <a:xfrm>
            <a:off x="2944368" y="3154680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TR007, TR009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3822192" y="3127248"/>
            <a:ext cx="1920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1" name="Text 99"/>
          <p:cNvSpPr/>
          <p:nvPr/>
        </p:nvSpPr>
        <p:spPr>
          <a:xfrm>
            <a:off x="3858768" y="3154680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OBB Agent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742432" y="3127248"/>
            <a:ext cx="1956816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3" name="Text 101"/>
          <p:cNvSpPr/>
          <p:nvPr/>
        </p:nvSpPr>
        <p:spPr>
          <a:xfrm>
            <a:off x="5779008" y="3154680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Centre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56032" y="3474720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5" name="Text 103"/>
          <p:cNvSpPr/>
          <p:nvPr/>
        </p:nvSpPr>
        <p:spPr>
          <a:xfrm>
            <a:off x="292608" y="3502152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R007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850392" y="3474720"/>
            <a:ext cx="6858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7" name="Text 105"/>
          <p:cNvSpPr/>
          <p:nvPr/>
        </p:nvSpPr>
        <p:spPr>
          <a:xfrm>
            <a:off x="886968" y="3502152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PP07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536192" y="3474720"/>
            <a:ext cx="777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9" name="Text 107"/>
          <p:cNvSpPr/>
          <p:nvPr/>
        </p:nvSpPr>
        <p:spPr>
          <a:xfrm>
            <a:off x="1572768" y="3502152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HMW06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313432" y="3474720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1" name="Text 109"/>
          <p:cNvSpPr/>
          <p:nvPr/>
        </p:nvSpPr>
        <p:spPr>
          <a:xfrm>
            <a:off x="2350008" y="3502152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BR008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2907792" y="3474720"/>
            <a:ext cx="9144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3" name="Text 111"/>
          <p:cNvSpPr/>
          <p:nvPr/>
        </p:nvSpPr>
        <p:spPr>
          <a:xfrm>
            <a:off x="2944368" y="3502152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822192" y="3474720"/>
            <a:ext cx="1920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5" name="Text 113"/>
          <p:cNvSpPr/>
          <p:nvPr/>
        </p:nvSpPr>
        <p:spPr>
          <a:xfrm>
            <a:off x="3858768" y="350215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Agent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742432" y="3474720"/>
            <a:ext cx="1956816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7" name="Text 115"/>
          <p:cNvSpPr/>
          <p:nvPr/>
        </p:nvSpPr>
        <p:spPr>
          <a:xfrm>
            <a:off x="5779008" y="3502152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Centre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56032" y="3822192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9" name="Text 117"/>
          <p:cNvSpPr/>
          <p:nvPr/>
        </p:nvSpPr>
        <p:spPr>
          <a:xfrm>
            <a:off x="292608" y="3849624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R008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50392" y="3822192"/>
            <a:ext cx="6858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1" name="Text 119"/>
          <p:cNvSpPr/>
          <p:nvPr/>
        </p:nvSpPr>
        <p:spPr>
          <a:xfrm>
            <a:off x="886968" y="3849624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PP08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536192" y="3822192"/>
            <a:ext cx="777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3" name="Text 121"/>
          <p:cNvSpPr/>
          <p:nvPr/>
        </p:nvSpPr>
        <p:spPr>
          <a:xfrm>
            <a:off x="1572768" y="3849624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HMW07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313432" y="3822192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5" name="Text 123"/>
          <p:cNvSpPr/>
          <p:nvPr/>
        </p:nvSpPr>
        <p:spPr>
          <a:xfrm>
            <a:off x="2350008" y="3849624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BR010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2907792" y="3822192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7" name="Text 125"/>
          <p:cNvSpPr/>
          <p:nvPr/>
        </p:nvSpPr>
        <p:spPr>
          <a:xfrm>
            <a:off x="2944368" y="3849624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TR005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3822192" y="3822192"/>
            <a:ext cx="1920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9" name="Text 127"/>
          <p:cNvSpPr/>
          <p:nvPr/>
        </p:nvSpPr>
        <p:spPr>
          <a:xfrm>
            <a:off x="3858768" y="3849624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Reporting Agent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5742432" y="3822192"/>
            <a:ext cx="1956816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1" name="Text 129"/>
          <p:cNvSpPr/>
          <p:nvPr/>
        </p:nvSpPr>
        <p:spPr>
          <a:xfrm>
            <a:off x="5779008" y="3849624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56032" y="4169664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3" name="Text 131"/>
          <p:cNvSpPr/>
          <p:nvPr/>
        </p:nvSpPr>
        <p:spPr>
          <a:xfrm>
            <a:off x="292608" y="4197096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R009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50392" y="4169664"/>
            <a:ext cx="6858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5" name="Text 133"/>
          <p:cNvSpPr/>
          <p:nvPr/>
        </p:nvSpPr>
        <p:spPr>
          <a:xfrm>
            <a:off x="886968" y="4197096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PP05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1536192" y="4169664"/>
            <a:ext cx="777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Text 135"/>
          <p:cNvSpPr/>
          <p:nvPr/>
        </p:nvSpPr>
        <p:spPr>
          <a:xfrm>
            <a:off x="1572768" y="4197096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HMW05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313432" y="4169664"/>
            <a:ext cx="59436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Text 137"/>
          <p:cNvSpPr/>
          <p:nvPr/>
        </p:nvSpPr>
        <p:spPr>
          <a:xfrm>
            <a:off x="2350008" y="4197096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BR007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2907792" y="4169664"/>
            <a:ext cx="91440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Text 139"/>
          <p:cNvSpPr/>
          <p:nvPr/>
        </p:nvSpPr>
        <p:spPr>
          <a:xfrm>
            <a:off x="2944368" y="4197096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TR010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3822192" y="4169664"/>
            <a:ext cx="1920240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Text 141"/>
          <p:cNvSpPr/>
          <p:nvPr/>
        </p:nvSpPr>
        <p:spPr>
          <a:xfrm>
            <a:off x="3858768" y="4197096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 High Impact Agent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742432" y="4169664"/>
            <a:ext cx="1956816" cy="320040"/>
          </a:xfrm>
          <a:prstGeom prst="rect">
            <a:avLst/>
          </a:prstGeom>
          <a:solidFill>
            <a:srgbClr val="F2F2F2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5" name="Text 143"/>
          <p:cNvSpPr/>
          <p:nvPr/>
        </p:nvSpPr>
        <p:spPr>
          <a:xfrm>
            <a:off x="5779008" y="4197096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Centre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56032" y="4517136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Text 145"/>
          <p:cNvSpPr/>
          <p:nvPr/>
        </p:nvSpPr>
        <p:spPr>
          <a:xfrm>
            <a:off x="292608" y="4544568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R010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850392" y="4517136"/>
            <a:ext cx="6858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Text 147"/>
          <p:cNvSpPr/>
          <p:nvPr/>
        </p:nvSpPr>
        <p:spPr>
          <a:xfrm>
            <a:off x="886968" y="4544568"/>
            <a:ext cx="630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PP10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1536192" y="4517136"/>
            <a:ext cx="777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Text 149"/>
          <p:cNvSpPr/>
          <p:nvPr/>
        </p:nvSpPr>
        <p:spPr>
          <a:xfrm>
            <a:off x="1572768" y="4544568"/>
            <a:ext cx="722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HMW09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2313432" y="4517136"/>
            <a:ext cx="59436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Text 151"/>
          <p:cNvSpPr/>
          <p:nvPr/>
        </p:nvSpPr>
        <p:spPr>
          <a:xfrm>
            <a:off x="2350008" y="4544568"/>
            <a:ext cx="5394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BR009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2907792" y="4517136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Text 153"/>
          <p:cNvSpPr/>
          <p:nvPr/>
        </p:nvSpPr>
        <p:spPr>
          <a:xfrm>
            <a:off x="2944368" y="4544568"/>
            <a:ext cx="8595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TR011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3822192" y="4517136"/>
            <a:ext cx="19202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Text 155"/>
          <p:cNvSpPr/>
          <p:nvPr/>
        </p:nvSpPr>
        <p:spPr>
          <a:xfrm>
            <a:off x="3858768" y="4544568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&amp; Reminder Agent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742432" y="4517136"/>
            <a:ext cx="1956816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Text 157"/>
          <p:cNvSpPr/>
          <p:nvPr/>
        </p:nvSpPr>
        <p:spPr>
          <a:xfrm>
            <a:off x="5779008" y="4544568"/>
            <a:ext cx="1901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Engine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18 &amp; 19 — User Stories + Test Cases  →  06 &amp; 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 (06_user_stories.md)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60704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310896" y="1115568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310896" y="111556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86384" y="110642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JPN Officer,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33502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view all JPN &amp; PPD KPI data so that I can monitor state-level implementation.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310896" y="1773936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10896" y="177393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86384" y="176479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PPD Officer,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199339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update my PPD KPI data so that monthly progress is recorded accurately.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310896" y="2432304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310896" y="24323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86384" y="242316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PIC,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26517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update achievement, evidence and financial data so that my KPI record is complete.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035808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310896" y="3090672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310896" y="3090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86384" y="308152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Top Management,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331012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view executive KPI summaries so that I can make faster strategic decisions.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694176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310896" y="3749040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310896" y="37490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86384" y="373989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Finance Officer,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39684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monitor allocation and spending so that OBB utilisation can be reviewed.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4352544"/>
            <a:ext cx="4160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310896" y="4407408"/>
            <a:ext cx="420624" cy="201168"/>
          </a:xfrm>
          <a:prstGeom prst="roundRect">
            <a:avLst>
              <a:gd name="adj" fmla="val 13636"/>
            </a:avLst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310896" y="44074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US006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6384" y="439826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Sector Head,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" y="46268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receive alerts for At Risk KPIs so that intervention can be taken early.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27448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 (07_test_cases.md)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27448" y="1060704"/>
            <a:ext cx="62179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4727448" y="1060704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49240" y="1060704"/>
            <a:ext cx="210312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349240" y="1060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452360" y="1060704"/>
            <a:ext cx="13716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7452360" y="10607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27448" y="1371600"/>
            <a:ext cx="621792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4764024" y="1408176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49240" y="1371600"/>
            <a:ext cx="210312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44"/>
          <p:cNvSpPr/>
          <p:nvPr/>
        </p:nvSpPr>
        <p:spPr>
          <a:xfrm>
            <a:off x="5385816" y="1408176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with @moe.gov.my email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52360" y="1371600"/>
            <a:ext cx="137160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7488936" y="1408176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successful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27448" y="1719072"/>
            <a:ext cx="621792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4764024" y="1755648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49240" y="1719072"/>
            <a:ext cx="21031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5385816" y="1755648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with non-MOE email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52360" y="1719072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Text 52"/>
          <p:cNvSpPr/>
          <p:nvPr/>
        </p:nvSpPr>
        <p:spPr>
          <a:xfrm>
            <a:off x="7488936" y="1755648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rejected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27448" y="2066544"/>
            <a:ext cx="621792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4764024" y="2103120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9240" y="2066544"/>
            <a:ext cx="210312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5385816" y="2103120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achievement below threshold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52360" y="2066544"/>
            <a:ext cx="137160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7488936" y="2103120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= At Risk / Critical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27448" y="2414016"/>
            <a:ext cx="621792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Text 60"/>
          <p:cNvSpPr/>
          <p:nvPr/>
        </p:nvSpPr>
        <p:spPr>
          <a:xfrm>
            <a:off x="4764024" y="2450592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49240" y="2414016"/>
            <a:ext cx="21031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5385816" y="2450592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not updated after deadline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452360" y="2414016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Text 64"/>
          <p:cNvSpPr/>
          <p:nvPr/>
        </p:nvSpPr>
        <p:spPr>
          <a:xfrm>
            <a:off x="7488936" y="2450592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email generated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27448" y="2761488"/>
            <a:ext cx="621792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Text 66"/>
          <p:cNvSpPr/>
          <p:nvPr/>
        </p:nvSpPr>
        <p:spPr>
          <a:xfrm>
            <a:off x="4764024" y="2798064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TC005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349240" y="2761488"/>
            <a:ext cx="210312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385816" y="2798064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allocation after July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452360" y="2761488"/>
            <a:ext cx="137160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Text 70"/>
          <p:cNvSpPr/>
          <p:nvPr/>
        </p:nvSpPr>
        <p:spPr>
          <a:xfrm>
            <a:off x="7488936" y="2798064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LCHI recommendation triggered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727448" y="3108960"/>
            <a:ext cx="621792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Text 72"/>
          <p:cNvSpPr/>
          <p:nvPr/>
        </p:nvSpPr>
        <p:spPr>
          <a:xfrm>
            <a:off x="4764024" y="3145536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TC006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349240" y="3108960"/>
            <a:ext cx="21031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Text 74"/>
          <p:cNvSpPr/>
          <p:nvPr/>
        </p:nvSpPr>
        <p:spPr>
          <a:xfrm>
            <a:off x="5385816" y="3145536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number missing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452360" y="3108960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Text 76"/>
          <p:cNvSpPr/>
          <p:nvPr/>
        </p:nvSpPr>
        <p:spPr>
          <a:xfrm>
            <a:off x="7488936" y="3145536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alert generated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27448" y="3456432"/>
            <a:ext cx="621792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Text 78"/>
          <p:cNvSpPr/>
          <p:nvPr/>
        </p:nvSpPr>
        <p:spPr>
          <a:xfrm>
            <a:off x="4764024" y="3493008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TC007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49240" y="3456432"/>
            <a:ext cx="210312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Text 80"/>
          <p:cNvSpPr/>
          <p:nvPr/>
        </p:nvSpPr>
        <p:spPr>
          <a:xfrm>
            <a:off x="5385816" y="3493008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unresolved after 7 days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452360" y="3456432"/>
            <a:ext cx="137160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Text 82"/>
          <p:cNvSpPr/>
          <p:nvPr/>
        </p:nvSpPr>
        <p:spPr>
          <a:xfrm>
            <a:off x="7488936" y="3493008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Level 2 triggered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727448" y="3803904"/>
            <a:ext cx="621792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Text 84"/>
          <p:cNvSpPr/>
          <p:nvPr/>
        </p:nvSpPr>
        <p:spPr>
          <a:xfrm>
            <a:off x="4764024" y="3840480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TC008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349240" y="3803904"/>
            <a:ext cx="21031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Text 86"/>
          <p:cNvSpPr/>
          <p:nvPr/>
        </p:nvSpPr>
        <p:spPr>
          <a:xfrm>
            <a:off x="5385816" y="3840480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dashboard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452360" y="3803904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Text 88"/>
          <p:cNvSpPr/>
          <p:nvPr/>
        </p:nvSpPr>
        <p:spPr>
          <a:xfrm>
            <a:off x="7488936" y="3840480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summary cards displayed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727448" y="4151376"/>
            <a:ext cx="621792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Text 90"/>
          <p:cNvSpPr/>
          <p:nvPr/>
        </p:nvSpPr>
        <p:spPr>
          <a:xfrm>
            <a:off x="4764024" y="4187952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TC009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349240" y="4151376"/>
            <a:ext cx="210312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Text 92"/>
          <p:cNvSpPr/>
          <p:nvPr/>
        </p:nvSpPr>
        <p:spPr>
          <a:xfrm>
            <a:off x="5385816" y="4187952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submits monthly update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452360" y="4151376"/>
            <a:ext cx="1371600" cy="320040"/>
          </a:xfrm>
          <a:prstGeom prst="rect">
            <a:avLst/>
          </a:prstGeom>
          <a:solidFill>
            <a:srgbClr val="D5E8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Text 94"/>
          <p:cNvSpPr/>
          <p:nvPr/>
        </p:nvSpPr>
        <p:spPr>
          <a:xfrm>
            <a:off x="7488936" y="4187952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saved successfully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727448" y="4498848"/>
            <a:ext cx="621792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Text 96"/>
          <p:cNvSpPr/>
          <p:nvPr/>
        </p:nvSpPr>
        <p:spPr>
          <a:xfrm>
            <a:off x="4764024" y="4535424"/>
            <a:ext cx="5669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TC010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349240" y="4498848"/>
            <a:ext cx="21031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Text 98"/>
          <p:cNvSpPr/>
          <p:nvPr/>
        </p:nvSpPr>
        <p:spPr>
          <a:xfrm>
            <a:off x="5385816" y="4535424"/>
            <a:ext cx="20482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 clicked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452360" y="4498848"/>
            <a:ext cx="1371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Text 100"/>
          <p:cNvSpPr/>
          <p:nvPr/>
        </p:nvSpPr>
        <p:spPr>
          <a:xfrm>
            <a:off x="7488936" y="4535424"/>
            <a:ext cx="13167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 preview shown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788</Words>
  <Application>Microsoft Office PowerPoint</Application>
  <PresentationFormat>On-screen Show (16:9)</PresentationFormat>
  <Paragraphs>231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RPM 2026-2035 Project Structure Step by Step</dc:title>
  <dc:subject>PptxGenJS Presentation</dc:subject>
  <dc:creator>Noranita Suzila, JPN Perak</dc:creator>
  <cp:lastModifiedBy>iegpc1</cp:lastModifiedBy>
  <cp:revision>2</cp:revision>
  <dcterms:created xsi:type="dcterms:W3CDTF">2026-06-23T13:33:39Z</dcterms:created>
  <dcterms:modified xsi:type="dcterms:W3CDTF">2026-06-27T00:59:32Z</dcterms:modified>
</cp:coreProperties>
</file>